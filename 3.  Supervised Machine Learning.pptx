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56" r:id="rId3"/>
    <p:sldId id="257" r:id="rId4"/>
    <p:sldId id="258" r:id="rId5"/>
    <p:sldId id="259" r:id="rId6"/>
    <p:sldId id="260" r:id="rId7"/>
    <p:sldId id="261"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7B04E7E4-D008-4B32-BE2B-59068648D8F4}" type="datetimeFigureOut">
              <a:rPr lang="en-IN" smtClean="0"/>
              <a:t>20-04-2023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C37167-1A0D-46AD-A152-C208E3BF8F92}" type="slidenum">
              <a:rPr lang="en-IN" smtClean="0"/>
              <a:t>‹#›</a:t>
            </a:fld>
            <a:endParaRPr lang="en-IN"/>
          </a:p>
        </p:txBody>
      </p:sp>
    </p:spTree>
    <p:extLst>
      <p:ext uri="{BB962C8B-B14F-4D97-AF65-F5344CB8AC3E}">
        <p14:creationId xmlns:p14="http://schemas.microsoft.com/office/powerpoint/2010/main" val="1982735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B04E7E4-D008-4B32-BE2B-59068648D8F4}" type="datetimeFigureOut">
              <a:rPr lang="en-IN" smtClean="0"/>
              <a:t>20-04-2023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C37167-1A0D-46AD-A152-C208E3BF8F92}" type="slidenum">
              <a:rPr lang="en-IN" smtClean="0"/>
              <a:t>‹#›</a:t>
            </a:fld>
            <a:endParaRPr lang="en-IN"/>
          </a:p>
        </p:txBody>
      </p:sp>
    </p:spTree>
    <p:extLst>
      <p:ext uri="{BB962C8B-B14F-4D97-AF65-F5344CB8AC3E}">
        <p14:creationId xmlns:p14="http://schemas.microsoft.com/office/powerpoint/2010/main" val="6436630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B04E7E4-D008-4B32-BE2B-59068648D8F4}" type="datetimeFigureOut">
              <a:rPr lang="en-IN" smtClean="0"/>
              <a:t>20-04-2023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C37167-1A0D-46AD-A152-C208E3BF8F92}" type="slidenum">
              <a:rPr lang="en-IN" smtClean="0"/>
              <a:t>‹#›</a:t>
            </a:fld>
            <a:endParaRPr lang="en-IN"/>
          </a:p>
        </p:txBody>
      </p:sp>
    </p:spTree>
    <p:extLst>
      <p:ext uri="{BB962C8B-B14F-4D97-AF65-F5344CB8AC3E}">
        <p14:creationId xmlns:p14="http://schemas.microsoft.com/office/powerpoint/2010/main" val="10185152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7B04E7E4-D008-4B32-BE2B-59068648D8F4}" type="datetimeFigureOut">
              <a:rPr lang="en-IN" smtClean="0"/>
              <a:t>20-04-2023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C37167-1A0D-46AD-A152-C208E3BF8F92}" type="slidenum">
              <a:rPr lang="en-IN" smtClean="0"/>
              <a:t>‹#›</a:t>
            </a:fld>
            <a:endParaRPr lang="en-IN"/>
          </a:p>
        </p:txBody>
      </p:sp>
    </p:spTree>
    <p:extLst>
      <p:ext uri="{BB962C8B-B14F-4D97-AF65-F5344CB8AC3E}">
        <p14:creationId xmlns:p14="http://schemas.microsoft.com/office/powerpoint/2010/main" val="17163472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7B04E7E4-D008-4B32-BE2B-59068648D8F4}" type="datetimeFigureOut">
              <a:rPr lang="en-IN" smtClean="0"/>
              <a:t>20-04-2023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0C37167-1A0D-46AD-A152-C208E3BF8F92}" type="slidenum">
              <a:rPr lang="en-IN" smtClean="0"/>
              <a:t>‹#›</a:t>
            </a:fld>
            <a:endParaRPr lang="en-IN"/>
          </a:p>
        </p:txBody>
      </p:sp>
    </p:spTree>
    <p:extLst>
      <p:ext uri="{BB962C8B-B14F-4D97-AF65-F5344CB8AC3E}">
        <p14:creationId xmlns:p14="http://schemas.microsoft.com/office/powerpoint/2010/main" val="9199908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7B04E7E4-D008-4B32-BE2B-59068648D8F4}" type="datetimeFigureOut">
              <a:rPr lang="en-IN" smtClean="0"/>
              <a:t>20-04-2023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0C37167-1A0D-46AD-A152-C208E3BF8F92}" type="slidenum">
              <a:rPr lang="en-IN" smtClean="0"/>
              <a:t>‹#›</a:t>
            </a:fld>
            <a:endParaRPr lang="en-IN"/>
          </a:p>
        </p:txBody>
      </p:sp>
    </p:spTree>
    <p:extLst>
      <p:ext uri="{BB962C8B-B14F-4D97-AF65-F5344CB8AC3E}">
        <p14:creationId xmlns:p14="http://schemas.microsoft.com/office/powerpoint/2010/main" val="1353825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04E7E4-D008-4B32-BE2B-59068648D8F4}" type="datetimeFigureOut">
              <a:rPr lang="en-IN" smtClean="0"/>
              <a:t>20-04-2023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0C37167-1A0D-46AD-A152-C208E3BF8F92}" type="slidenum">
              <a:rPr lang="en-IN" smtClean="0"/>
              <a:t>‹#›</a:t>
            </a:fld>
            <a:endParaRPr lang="en-IN"/>
          </a:p>
        </p:txBody>
      </p:sp>
    </p:spTree>
    <p:extLst>
      <p:ext uri="{BB962C8B-B14F-4D97-AF65-F5344CB8AC3E}">
        <p14:creationId xmlns:p14="http://schemas.microsoft.com/office/powerpoint/2010/main" val="1306208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B04E7E4-D008-4B32-BE2B-59068648D8F4}" type="datetimeFigureOut">
              <a:rPr lang="en-IN" smtClean="0"/>
              <a:t>20-04-2023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C37167-1A0D-46AD-A152-C208E3BF8F92}" type="slidenum">
              <a:rPr lang="en-IN" smtClean="0"/>
              <a:t>‹#›</a:t>
            </a:fld>
            <a:endParaRPr lang="en-IN"/>
          </a:p>
        </p:txBody>
      </p:sp>
    </p:spTree>
    <p:extLst>
      <p:ext uri="{BB962C8B-B14F-4D97-AF65-F5344CB8AC3E}">
        <p14:creationId xmlns:p14="http://schemas.microsoft.com/office/powerpoint/2010/main" val="59206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B04E7E4-D008-4B32-BE2B-59068648D8F4}" type="datetimeFigureOut">
              <a:rPr lang="en-IN" smtClean="0"/>
              <a:t>20-04-2023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C37167-1A0D-46AD-A152-C208E3BF8F92}" type="slidenum">
              <a:rPr lang="en-IN" smtClean="0"/>
              <a:t>‹#›</a:t>
            </a:fld>
            <a:endParaRPr lang="en-IN"/>
          </a:p>
        </p:txBody>
      </p:sp>
    </p:spTree>
    <p:extLst>
      <p:ext uri="{BB962C8B-B14F-4D97-AF65-F5344CB8AC3E}">
        <p14:creationId xmlns:p14="http://schemas.microsoft.com/office/powerpoint/2010/main" val="28236538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B04E7E4-D008-4B32-BE2B-59068648D8F4}" type="datetimeFigureOut">
              <a:rPr lang="en-IN" smtClean="0"/>
              <a:t>20-04-2023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C37167-1A0D-46AD-A152-C208E3BF8F92}" type="slidenum">
              <a:rPr lang="en-IN" smtClean="0"/>
              <a:t>‹#›</a:t>
            </a:fld>
            <a:endParaRPr lang="en-IN"/>
          </a:p>
        </p:txBody>
      </p:sp>
    </p:spTree>
    <p:extLst>
      <p:ext uri="{BB962C8B-B14F-4D97-AF65-F5344CB8AC3E}">
        <p14:creationId xmlns:p14="http://schemas.microsoft.com/office/powerpoint/2010/main" val="22720373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B04E7E4-D008-4B32-BE2B-59068648D8F4}" type="datetimeFigureOut">
              <a:rPr lang="en-IN" smtClean="0"/>
              <a:t>20-04-2023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C37167-1A0D-46AD-A152-C208E3BF8F92}" type="slidenum">
              <a:rPr lang="en-IN" smtClean="0"/>
              <a:t>‹#›</a:t>
            </a:fld>
            <a:endParaRPr lang="en-IN"/>
          </a:p>
        </p:txBody>
      </p:sp>
    </p:spTree>
    <p:extLst>
      <p:ext uri="{BB962C8B-B14F-4D97-AF65-F5344CB8AC3E}">
        <p14:creationId xmlns:p14="http://schemas.microsoft.com/office/powerpoint/2010/main" val="560462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04E7E4-D008-4B32-BE2B-59068648D8F4}" type="datetimeFigureOut">
              <a:rPr lang="en-IN" smtClean="0"/>
              <a:t>20-04-2023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C37167-1A0D-46AD-A152-C208E3BF8F92}" type="slidenum">
              <a:rPr lang="en-IN" smtClean="0"/>
              <a:t>‹#›</a:t>
            </a:fld>
            <a:endParaRPr lang="en-IN"/>
          </a:p>
        </p:txBody>
      </p:sp>
    </p:spTree>
    <p:extLst>
      <p:ext uri="{BB962C8B-B14F-4D97-AF65-F5344CB8AC3E}">
        <p14:creationId xmlns:p14="http://schemas.microsoft.com/office/powerpoint/2010/main" val="14848838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649309"/>
          </a:xfrm>
        </p:spPr>
        <p:txBody>
          <a:bodyPr/>
          <a:lstStyle/>
          <a:p>
            <a:pPr algn="ctr"/>
            <a:r>
              <a:rPr lang="en-IN" dirty="0" smtClean="0"/>
              <a:t>Supervised Machine Learning</a:t>
            </a:r>
            <a:br>
              <a:rPr lang="en-IN" dirty="0" smtClean="0"/>
            </a:br>
            <a:r>
              <a:rPr lang="en-IN" dirty="0"/>
              <a:t/>
            </a:r>
            <a:br>
              <a:rPr lang="en-IN" dirty="0"/>
            </a:br>
            <a:r>
              <a:rPr lang="en-IN" dirty="0" smtClean="0"/>
              <a:t/>
            </a:r>
            <a:br>
              <a:rPr lang="en-IN" dirty="0" smtClean="0"/>
            </a:br>
            <a:r>
              <a:rPr lang="en-IN" dirty="0"/>
              <a:t/>
            </a:r>
            <a:br>
              <a:rPr lang="en-IN" dirty="0"/>
            </a:br>
            <a:r>
              <a:rPr lang="en-IN" dirty="0" smtClean="0"/>
              <a:t/>
            </a:r>
            <a:br>
              <a:rPr lang="en-IN" dirty="0" smtClean="0"/>
            </a:br>
            <a:r>
              <a:rPr lang="en-IN" dirty="0"/>
              <a:t/>
            </a:r>
            <a:br>
              <a:rPr lang="en-IN" dirty="0"/>
            </a:br>
            <a:r>
              <a:rPr lang="en-IN" dirty="0" smtClean="0"/>
              <a:t>Dr. Amit Kumar Bindal</a:t>
            </a:r>
            <a:endParaRPr lang="en-IN" dirty="0"/>
          </a:p>
        </p:txBody>
      </p:sp>
    </p:spTree>
    <p:extLst>
      <p:ext uri="{BB962C8B-B14F-4D97-AF65-F5344CB8AC3E}">
        <p14:creationId xmlns:p14="http://schemas.microsoft.com/office/powerpoint/2010/main" val="4089948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25322" y="0"/>
            <a:ext cx="10515600" cy="961399"/>
          </a:xfrm>
        </p:spPr>
        <p:txBody>
          <a:bodyPr/>
          <a:lstStyle/>
          <a:p>
            <a:r>
              <a:rPr lang="en-IN" b="1" dirty="0"/>
              <a:t>Supervised Machine Learning</a:t>
            </a:r>
          </a:p>
        </p:txBody>
      </p:sp>
      <p:sp>
        <p:nvSpPr>
          <p:cNvPr id="5" name="Rectangle 4"/>
          <p:cNvSpPr/>
          <p:nvPr/>
        </p:nvSpPr>
        <p:spPr>
          <a:xfrm>
            <a:off x="489396" y="1037686"/>
            <a:ext cx="11436440" cy="5624745"/>
          </a:xfrm>
          <a:prstGeom prst="rect">
            <a:avLst/>
          </a:prstGeom>
        </p:spPr>
        <p:txBody>
          <a:bodyPr wrap="square">
            <a:spAutoFit/>
          </a:bodyPr>
          <a:lstStyle/>
          <a:p>
            <a:pPr marL="342900" indent="-342900" algn="just">
              <a:lnSpc>
                <a:spcPct val="107000"/>
              </a:lnSpc>
              <a:spcAft>
                <a:spcPts val="0"/>
              </a:spcAft>
              <a:buFont typeface="Wingdings" panose="05000000000000000000" pitchFamily="2" charset="2"/>
              <a:buChar char="v"/>
            </a:pPr>
            <a:r>
              <a:rPr lang="en-IN" sz="24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Supervised learning is the types of machine learning in which machines are trained using well "labelled" training data, and on basis of that data, machines predict the output. The labelled data means some input data is already tagged with the correct output.</a:t>
            </a:r>
            <a:endParaRPr lang="en-IN"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0"/>
              </a:spcAft>
            </a:pPr>
            <a:endParaRPr lang="en-IN" sz="24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just">
              <a:lnSpc>
                <a:spcPct val="107000"/>
              </a:lnSpc>
              <a:spcAft>
                <a:spcPts val="0"/>
              </a:spcAft>
              <a:buFont typeface="Wingdings" panose="05000000000000000000" pitchFamily="2" charset="2"/>
              <a:buChar char="v"/>
            </a:pPr>
            <a:r>
              <a:rPr lang="en-IN" sz="24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 supervised learning, the training data provided to the machines work as the supervisor that teaches the machines to predict the output correctly. It applies the same concept as a student learns in the supervision of the teacher.</a:t>
            </a:r>
            <a:endParaRPr lang="en-IN"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0"/>
              </a:spcAft>
            </a:pPr>
            <a:endParaRPr lang="en-IN" sz="24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just">
              <a:lnSpc>
                <a:spcPct val="107000"/>
              </a:lnSpc>
              <a:spcAft>
                <a:spcPts val="0"/>
              </a:spcAft>
              <a:buFont typeface="Wingdings" panose="05000000000000000000" pitchFamily="2" charset="2"/>
              <a:buChar char="v"/>
            </a:pPr>
            <a:r>
              <a:rPr lang="en-IN" sz="24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Supervised learning is a process of providing input data as well as correct output data to the machine learning model. The aim of a supervised learning algorithm is to </a:t>
            </a:r>
            <a:r>
              <a:rPr lang="en-IN" sz="2400" b="1"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find a mapping function to map the input variable(x) with the output variable(y)</a:t>
            </a:r>
            <a:r>
              <a:rPr lang="en-IN" sz="24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p>
          <a:p>
            <a:pPr algn="just">
              <a:lnSpc>
                <a:spcPct val="107000"/>
              </a:lnSpc>
              <a:spcAft>
                <a:spcPts val="0"/>
              </a:spcAft>
            </a:pPr>
            <a:endParaRPr lang="en-IN"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lgn="just">
              <a:lnSpc>
                <a:spcPct val="107000"/>
              </a:lnSpc>
              <a:spcAft>
                <a:spcPts val="0"/>
              </a:spcAft>
              <a:buFont typeface="Wingdings" panose="05000000000000000000" pitchFamily="2" charset="2"/>
              <a:buChar char="v"/>
            </a:pPr>
            <a:r>
              <a:rPr lang="en-IN" sz="24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 the real-world, supervised learning can be used for </a:t>
            </a:r>
            <a:r>
              <a:rPr lang="en-IN" sz="2400" b="1"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Risk Assessment, Image classification, Fraud Detection, spam filtering</a:t>
            </a:r>
            <a:r>
              <a:rPr lang="en-IN" sz="24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etc.</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63225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How Supervised Learning Works?</a:t>
            </a:r>
          </a:p>
        </p:txBody>
      </p:sp>
      <p:sp>
        <p:nvSpPr>
          <p:cNvPr id="3" name="Rectangle 2"/>
          <p:cNvSpPr/>
          <p:nvPr/>
        </p:nvSpPr>
        <p:spPr>
          <a:xfrm>
            <a:off x="206061" y="1289715"/>
            <a:ext cx="11629623" cy="1380378"/>
          </a:xfrm>
          <a:prstGeom prst="rect">
            <a:avLst/>
          </a:prstGeom>
        </p:spPr>
        <p:txBody>
          <a:bodyPr wrap="square">
            <a:spAutoFit/>
          </a:bodyPr>
          <a:lstStyle/>
          <a:p>
            <a:pPr>
              <a:lnSpc>
                <a:spcPct val="107000"/>
              </a:lnSpc>
              <a:spcAft>
                <a:spcPts val="800"/>
              </a:spcAft>
            </a:pPr>
            <a:r>
              <a:rPr lang="en-IN"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 supervised learning, models are trained using labelled dataset, where the model learns about each type of data. Once the training process is completed, the model is tested on the basis of test data (a subset of the training set), and then it predicts the output.</a:t>
            </a:r>
            <a:endParaRPr lang="en-IN" sz="20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working of Supervised learning can be easily understood by the below example and diagram:</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descr="Supervised Machine learning"/>
          <p:cNvPicPr/>
          <p:nvPr/>
        </p:nvPicPr>
        <p:blipFill>
          <a:blip r:embed="rId2">
            <a:extLst>
              <a:ext uri="{28A0092B-C50C-407E-A947-70E740481C1C}">
                <a14:useLocalDpi xmlns:a14="http://schemas.microsoft.com/office/drawing/2010/main" val="0"/>
              </a:ext>
            </a:extLst>
          </a:blip>
          <a:srcRect/>
          <a:stretch>
            <a:fillRect/>
          </a:stretch>
        </p:blipFill>
        <p:spPr bwMode="auto">
          <a:xfrm>
            <a:off x="605307" y="2833352"/>
            <a:ext cx="10444765" cy="3863661"/>
          </a:xfrm>
          <a:prstGeom prst="rect">
            <a:avLst/>
          </a:prstGeom>
          <a:noFill/>
          <a:ln>
            <a:noFill/>
          </a:ln>
        </p:spPr>
      </p:pic>
    </p:spTree>
    <p:extLst>
      <p:ext uri="{BB962C8B-B14F-4D97-AF65-F5344CB8AC3E}">
        <p14:creationId xmlns:p14="http://schemas.microsoft.com/office/powerpoint/2010/main" val="26675497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Rectangle 2"/>
          <p:cNvSpPr/>
          <p:nvPr/>
        </p:nvSpPr>
        <p:spPr>
          <a:xfrm>
            <a:off x="386365" y="1930271"/>
            <a:ext cx="11423561" cy="4271554"/>
          </a:xfrm>
          <a:prstGeom prst="rect">
            <a:avLst/>
          </a:prstGeom>
        </p:spPr>
        <p:txBody>
          <a:bodyPr wrap="square">
            <a:spAutoFit/>
          </a:bodyPr>
          <a:lstStyle/>
          <a:p>
            <a:pPr>
              <a:lnSpc>
                <a:spcPct val="107000"/>
              </a:lnSpc>
              <a:spcAft>
                <a:spcPts val="800"/>
              </a:spcAft>
            </a:pPr>
            <a:r>
              <a:rPr lang="en-IN" sz="24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Suppose we have a dataset of different types of shapes which includes square, rectangle, triangle, and Polygon. Now the first step is that we need to train the model for each shape.</a:t>
            </a:r>
            <a:endParaRPr lang="en-IN"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1875"/>
              </a:lnSpc>
              <a:spcAft>
                <a:spcPts val="0"/>
              </a:spcAft>
              <a:buSzPts val="1000"/>
              <a:buFont typeface="Courier New" panose="02070309020205020404" pitchFamily="49" charset="0"/>
              <a:buChar char="o"/>
              <a:tabLst>
                <a:tab pos="457200" algn="l"/>
              </a:tabLst>
            </a:pPr>
            <a:r>
              <a:rPr lang="en-IN" sz="24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If the given shape has four sides, and all the sides are equal, then it will be labelled as a </a:t>
            </a:r>
            <a:r>
              <a:rPr lang="en-IN" sz="2400" b="1"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Square</a:t>
            </a:r>
            <a:r>
              <a:rPr lang="en-IN" sz="24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p>
          <a:p>
            <a:pPr lvl="0">
              <a:lnSpc>
                <a:spcPts val="1875"/>
              </a:lnSpc>
              <a:spcAft>
                <a:spcPts val="0"/>
              </a:spcAft>
              <a:buSzPts val="1000"/>
              <a:tabLst>
                <a:tab pos="457200" algn="l"/>
              </a:tabLst>
            </a:pPr>
            <a:endParaRPr lang="en-IN" sz="2400" dirty="0" smtClean="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1875"/>
              </a:lnSpc>
              <a:spcAft>
                <a:spcPts val="0"/>
              </a:spcAft>
              <a:buSzPts val="1000"/>
              <a:buFont typeface="Courier New" panose="02070309020205020404" pitchFamily="49" charset="0"/>
              <a:buChar char="o"/>
              <a:tabLst>
                <a:tab pos="457200" algn="l"/>
              </a:tabLst>
            </a:pPr>
            <a:r>
              <a:rPr lang="en-IN" sz="24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If the given shape has three sides, then it will be labelled as a </a:t>
            </a:r>
            <a:r>
              <a:rPr lang="en-IN" sz="2400" b="1"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triangle</a:t>
            </a:r>
            <a:r>
              <a:rPr lang="en-IN" sz="24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p>
          <a:p>
            <a:pPr lvl="0">
              <a:lnSpc>
                <a:spcPts val="1875"/>
              </a:lnSpc>
              <a:spcAft>
                <a:spcPts val="0"/>
              </a:spcAft>
              <a:buSzPts val="1000"/>
              <a:tabLst>
                <a:tab pos="457200" algn="l"/>
              </a:tabLst>
            </a:pPr>
            <a:endParaRPr lang="en-IN" sz="2400" dirty="0" smtClean="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1875"/>
              </a:lnSpc>
              <a:spcAft>
                <a:spcPts val="0"/>
              </a:spcAft>
              <a:buSzPts val="1000"/>
              <a:buFont typeface="Courier New" panose="02070309020205020404" pitchFamily="49" charset="0"/>
              <a:buChar char="o"/>
              <a:tabLst>
                <a:tab pos="457200" algn="l"/>
              </a:tabLst>
            </a:pPr>
            <a:r>
              <a:rPr lang="en-IN" sz="24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If the given shape has six equal sides then it will be labelled as </a:t>
            </a:r>
            <a:r>
              <a:rPr lang="en-IN" sz="2400" b="1"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hexagon</a:t>
            </a:r>
            <a:r>
              <a:rPr lang="en-IN" sz="24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p>
          <a:p>
            <a:pPr lvl="0">
              <a:lnSpc>
                <a:spcPts val="1875"/>
              </a:lnSpc>
              <a:spcAft>
                <a:spcPts val="0"/>
              </a:spcAft>
              <a:buSzPts val="1000"/>
              <a:tabLst>
                <a:tab pos="457200" algn="l"/>
              </a:tabLst>
            </a:pPr>
            <a:endParaRPr lang="en-IN" sz="2400" dirty="0" smtClean="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IN" sz="24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Now, after training, we test our model using the test set, and the task of the model is to identify the shape.</a:t>
            </a:r>
            <a:endParaRPr lang="en-IN"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24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machine is already trained on all types of shapes, and when it finds a new shape, it classifies the shape on the bases of a number of sides, and predicts the output.</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961703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Steps Involved in Supervised Learning:</a:t>
            </a:r>
          </a:p>
        </p:txBody>
      </p:sp>
      <p:sp>
        <p:nvSpPr>
          <p:cNvPr id="3" name="Rectangle 2"/>
          <p:cNvSpPr/>
          <p:nvPr/>
        </p:nvSpPr>
        <p:spPr>
          <a:xfrm>
            <a:off x="266163" y="1899930"/>
            <a:ext cx="11565228" cy="3465051"/>
          </a:xfrm>
          <a:prstGeom prst="rect">
            <a:avLst/>
          </a:prstGeom>
        </p:spPr>
        <p:txBody>
          <a:bodyPr wrap="square">
            <a:spAutoFit/>
          </a:bodyPr>
          <a:lstStyle/>
          <a:p>
            <a:pPr marL="342900" lvl="0" indent="-342900">
              <a:lnSpc>
                <a:spcPts val="1875"/>
              </a:lnSpc>
              <a:spcBef>
                <a:spcPts val="300"/>
              </a:spcBef>
              <a:spcAft>
                <a:spcPts val="800"/>
              </a:spcAft>
              <a:buSzPts val="1000"/>
              <a:buFont typeface="Courier New" panose="02070309020205020404" pitchFamily="49" charset="0"/>
              <a:buChar char="o"/>
              <a:tabLst>
                <a:tab pos="457200" algn="l"/>
              </a:tabLst>
            </a:pPr>
            <a:r>
              <a:rPr lang="en-IN"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First Determine the type of training dataset</a:t>
            </a:r>
            <a:endParaRPr lang="en-IN" sz="2000" dirty="0" smtClean="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1875"/>
              </a:lnSpc>
              <a:spcBef>
                <a:spcPts val="300"/>
              </a:spcBef>
              <a:spcAft>
                <a:spcPts val="800"/>
              </a:spcAft>
              <a:buSzPts val="1000"/>
              <a:buFont typeface="Courier New" panose="02070309020205020404" pitchFamily="49" charset="0"/>
              <a:buChar char="o"/>
              <a:tabLst>
                <a:tab pos="457200" algn="l"/>
              </a:tabLst>
            </a:pPr>
            <a:r>
              <a:rPr lang="en-IN"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Collect/Gather the labelled training data.</a:t>
            </a:r>
            <a:endParaRPr lang="en-IN" sz="2000" dirty="0" smtClean="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1875"/>
              </a:lnSpc>
              <a:spcBef>
                <a:spcPts val="300"/>
              </a:spcBef>
              <a:spcAft>
                <a:spcPts val="800"/>
              </a:spcAft>
              <a:buSzPts val="1000"/>
              <a:buFont typeface="Courier New" panose="02070309020205020404" pitchFamily="49" charset="0"/>
              <a:buChar char="o"/>
              <a:tabLst>
                <a:tab pos="457200" algn="l"/>
              </a:tabLst>
            </a:pPr>
            <a:r>
              <a:rPr lang="en-IN"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Split the training dataset into training </a:t>
            </a:r>
            <a:r>
              <a:rPr lang="en-IN" sz="2000" b="1"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dataset, test dataset, and validation dataset</a:t>
            </a:r>
            <a:r>
              <a:rPr lang="en-IN"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2000" dirty="0" smtClean="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1875"/>
              </a:lnSpc>
              <a:spcBef>
                <a:spcPts val="300"/>
              </a:spcBef>
              <a:spcAft>
                <a:spcPts val="800"/>
              </a:spcAft>
              <a:buSzPts val="1000"/>
              <a:buFont typeface="Courier New" panose="02070309020205020404" pitchFamily="49" charset="0"/>
              <a:buChar char="o"/>
              <a:tabLst>
                <a:tab pos="457200" algn="l"/>
              </a:tabLst>
            </a:pPr>
            <a:r>
              <a:rPr lang="en-IN"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Determine the input features of the training dataset, which should have enough knowledge so that the model can accurately predict the output.</a:t>
            </a:r>
            <a:endParaRPr lang="en-IN" sz="2000" dirty="0" smtClean="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1875"/>
              </a:lnSpc>
              <a:spcBef>
                <a:spcPts val="300"/>
              </a:spcBef>
              <a:spcAft>
                <a:spcPts val="800"/>
              </a:spcAft>
              <a:buSzPts val="1000"/>
              <a:buFont typeface="Courier New" panose="02070309020205020404" pitchFamily="49" charset="0"/>
              <a:buChar char="o"/>
              <a:tabLst>
                <a:tab pos="457200" algn="l"/>
              </a:tabLst>
            </a:pPr>
            <a:r>
              <a:rPr lang="en-IN"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Determine the suitable algorithm for the model, such as support vector machine, decision tree, etc.</a:t>
            </a:r>
            <a:endParaRPr lang="en-IN" sz="2000" dirty="0" smtClean="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1875"/>
              </a:lnSpc>
              <a:spcBef>
                <a:spcPts val="300"/>
              </a:spcBef>
              <a:spcAft>
                <a:spcPts val="800"/>
              </a:spcAft>
              <a:buSzPts val="1000"/>
              <a:buFont typeface="Courier New" panose="02070309020205020404" pitchFamily="49" charset="0"/>
              <a:buChar char="o"/>
              <a:tabLst>
                <a:tab pos="457200" algn="l"/>
              </a:tabLst>
            </a:pPr>
            <a:r>
              <a:rPr lang="en-IN" sz="20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Execute the algorithm on the training dataset. Sometimes we need validation sets as the control parameters, which are the subset of training datasets.</a:t>
            </a:r>
            <a:endParaRPr lang="en-IN" sz="2000" dirty="0" smtClean="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r>
              <a:rPr lang="en-IN" sz="2000" dirty="0" smtClean="0">
                <a:solidFill>
                  <a:srgbClr val="000000"/>
                </a:solidFill>
                <a:effectLst/>
                <a:latin typeface="Times New Roman" panose="02020603050405020304" pitchFamily="18" charset="0"/>
                <a:ea typeface="Times New Roman" panose="02020603050405020304" pitchFamily="18" charset="0"/>
              </a:rPr>
              <a:t>Evaluate the accuracy of the model by providing the test set. If the model predicts the correct output, which means our model is accurate.</a:t>
            </a:r>
            <a:endParaRPr lang="en-IN" sz="2000" dirty="0"/>
          </a:p>
        </p:txBody>
      </p:sp>
    </p:spTree>
    <p:extLst>
      <p:ext uri="{BB962C8B-B14F-4D97-AF65-F5344CB8AC3E}">
        <p14:creationId xmlns:p14="http://schemas.microsoft.com/office/powerpoint/2010/main" val="2032057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254" y="146184"/>
            <a:ext cx="12041746" cy="1325563"/>
          </a:xfrm>
        </p:spPr>
        <p:txBody>
          <a:bodyPr/>
          <a:lstStyle/>
          <a:p>
            <a:r>
              <a:rPr lang="en-IN" dirty="0"/>
              <a:t>Types of supervised Machine learning Algorithms:</a:t>
            </a:r>
          </a:p>
        </p:txBody>
      </p:sp>
      <p:pic>
        <p:nvPicPr>
          <p:cNvPr id="3" name="Picture 2" descr="Supervised Machine learning"/>
          <p:cNvPicPr/>
          <p:nvPr/>
        </p:nvPicPr>
        <p:blipFill>
          <a:blip r:embed="rId2">
            <a:extLst>
              <a:ext uri="{28A0092B-C50C-407E-A947-70E740481C1C}">
                <a14:useLocalDpi xmlns:a14="http://schemas.microsoft.com/office/drawing/2010/main" val="0"/>
              </a:ext>
            </a:extLst>
          </a:blip>
          <a:srcRect/>
          <a:stretch>
            <a:fillRect/>
          </a:stretch>
        </p:blipFill>
        <p:spPr bwMode="auto">
          <a:xfrm>
            <a:off x="592428" y="1948465"/>
            <a:ext cx="10792495" cy="4381500"/>
          </a:xfrm>
          <a:prstGeom prst="rect">
            <a:avLst/>
          </a:prstGeom>
          <a:noFill/>
          <a:ln>
            <a:noFill/>
          </a:ln>
        </p:spPr>
      </p:pic>
      <p:sp>
        <p:nvSpPr>
          <p:cNvPr id="4" name="Rectangle 3"/>
          <p:cNvSpPr/>
          <p:nvPr/>
        </p:nvSpPr>
        <p:spPr>
          <a:xfrm>
            <a:off x="201767" y="1354308"/>
            <a:ext cx="10178603" cy="369332"/>
          </a:xfrm>
          <a:prstGeom prst="rect">
            <a:avLst/>
          </a:prstGeom>
        </p:spPr>
        <p:txBody>
          <a:bodyPr wrap="square">
            <a:spAutoFit/>
          </a:bodyPr>
          <a:lstStyle/>
          <a:p>
            <a:r>
              <a:rPr lang="en-IN" dirty="0" smtClean="0">
                <a:solidFill>
                  <a:srgbClr val="000000"/>
                </a:solidFill>
                <a:effectLst/>
                <a:latin typeface="Times New Roman" panose="02020603050405020304" pitchFamily="18" charset="0"/>
                <a:ea typeface="Times New Roman" panose="02020603050405020304" pitchFamily="18" charset="0"/>
              </a:rPr>
              <a:t>Supervised learning can be further divided into two types of problems</a:t>
            </a:r>
            <a:endParaRPr lang="en-IN" dirty="0"/>
          </a:p>
        </p:txBody>
      </p:sp>
    </p:spTree>
    <p:extLst>
      <p:ext uri="{BB962C8B-B14F-4D97-AF65-F5344CB8AC3E}">
        <p14:creationId xmlns:p14="http://schemas.microsoft.com/office/powerpoint/2010/main" val="38983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 Regression</a:t>
            </a:r>
            <a:r>
              <a:rPr lang="en-IN" sz="4000" dirty="0" smtClean="0">
                <a:effectLst/>
                <a:latin typeface="Calibri" panose="020F0502020204030204" pitchFamily="34" charset="0"/>
                <a:ea typeface="Calibri" panose="020F0502020204030204" pitchFamily="34" charset="0"/>
                <a:cs typeface="Times New Roman" panose="02020603050405020304" pitchFamily="18" charset="0"/>
              </a:rPr>
              <a:t/>
            </a:r>
            <a:br>
              <a:rPr lang="en-IN" sz="4000" dirty="0" smtClean="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Rectangle 2"/>
          <p:cNvSpPr/>
          <p:nvPr/>
        </p:nvSpPr>
        <p:spPr>
          <a:xfrm>
            <a:off x="716923" y="1650183"/>
            <a:ext cx="11247549" cy="3615029"/>
          </a:xfrm>
          <a:prstGeom prst="rect">
            <a:avLst/>
          </a:prstGeom>
        </p:spPr>
        <p:txBody>
          <a:bodyPr wrap="square">
            <a:spAutoFit/>
          </a:bodyPr>
          <a:lstStyle/>
          <a:p>
            <a:pPr algn="just">
              <a:lnSpc>
                <a:spcPct val="107000"/>
              </a:lnSpc>
              <a:spcAft>
                <a:spcPts val="800"/>
              </a:spcAft>
            </a:pPr>
            <a:r>
              <a:rPr lang="en-IN" sz="24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Regression algorithms are used if there is a relationship between the input variable and the output variable. It is used for the prediction of continuous variables, such as Weather forecasting, Market Trends, etc. Below are some popular Regression algorithms which come under supervised learning:</a:t>
            </a:r>
            <a:endParaRPr lang="en-IN"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1875"/>
              </a:lnSpc>
              <a:spcBef>
                <a:spcPts val="300"/>
              </a:spcBef>
              <a:spcAft>
                <a:spcPts val="800"/>
              </a:spcAft>
              <a:buSzPts val="1000"/>
              <a:buFont typeface="Courier New" panose="02070309020205020404" pitchFamily="49" charset="0"/>
              <a:buChar char="o"/>
              <a:tabLst>
                <a:tab pos="457200" algn="l"/>
              </a:tabLst>
            </a:pPr>
            <a:r>
              <a:rPr lang="en-IN" sz="24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Linear Regression</a:t>
            </a:r>
            <a:endParaRPr lang="en-IN" sz="2400" dirty="0" smtClean="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1875"/>
              </a:lnSpc>
              <a:spcBef>
                <a:spcPts val="300"/>
              </a:spcBef>
              <a:spcAft>
                <a:spcPts val="800"/>
              </a:spcAft>
              <a:buSzPts val="1000"/>
              <a:buFont typeface="Courier New" panose="02070309020205020404" pitchFamily="49" charset="0"/>
              <a:buChar char="o"/>
              <a:tabLst>
                <a:tab pos="457200" algn="l"/>
              </a:tabLst>
            </a:pPr>
            <a:r>
              <a:rPr lang="en-IN" sz="24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Regression Trees</a:t>
            </a:r>
            <a:endParaRPr lang="en-IN" sz="2400" dirty="0" smtClean="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1875"/>
              </a:lnSpc>
              <a:spcBef>
                <a:spcPts val="300"/>
              </a:spcBef>
              <a:spcAft>
                <a:spcPts val="800"/>
              </a:spcAft>
              <a:buSzPts val="1000"/>
              <a:buFont typeface="Courier New" panose="02070309020205020404" pitchFamily="49" charset="0"/>
              <a:buChar char="o"/>
              <a:tabLst>
                <a:tab pos="457200" algn="l"/>
              </a:tabLst>
            </a:pPr>
            <a:r>
              <a:rPr lang="en-IN" sz="24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Non-Linear Regression</a:t>
            </a:r>
            <a:endParaRPr lang="en-IN" sz="2400" dirty="0" smtClean="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1875"/>
              </a:lnSpc>
              <a:spcBef>
                <a:spcPts val="300"/>
              </a:spcBef>
              <a:spcAft>
                <a:spcPts val="800"/>
              </a:spcAft>
              <a:buSzPts val="1000"/>
              <a:buFont typeface="Courier New" panose="02070309020205020404" pitchFamily="49" charset="0"/>
              <a:buChar char="o"/>
              <a:tabLst>
                <a:tab pos="457200" algn="l"/>
              </a:tabLst>
            </a:pPr>
            <a:r>
              <a:rPr lang="en-IN" sz="24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Bayesian Linear Regression</a:t>
            </a:r>
            <a:endParaRPr lang="en-IN" sz="2400" dirty="0" smtClean="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ts val="1875"/>
              </a:lnSpc>
              <a:spcBef>
                <a:spcPts val="300"/>
              </a:spcBef>
              <a:spcAft>
                <a:spcPts val="800"/>
              </a:spcAft>
              <a:buSzPts val="1000"/>
              <a:buFont typeface="Courier New" panose="02070309020205020404" pitchFamily="49" charset="0"/>
              <a:buChar char="o"/>
              <a:tabLst>
                <a:tab pos="457200" algn="l"/>
              </a:tabLst>
            </a:pPr>
            <a:r>
              <a:rPr lang="en-IN" sz="24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Polynomial Regression</a:t>
            </a:r>
            <a:endParaRPr lang="en-IN" sz="2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46333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2. </a:t>
            </a:r>
            <a:r>
              <a:rPr lang="en-IN" b="1"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Classification</a:t>
            </a:r>
            <a:r>
              <a:rPr lang="en-IN" sz="4000" dirty="0" smtClean="0">
                <a:effectLst/>
                <a:latin typeface="Calibri" panose="020F0502020204030204" pitchFamily="34" charset="0"/>
                <a:ea typeface="Calibri" panose="020F0502020204030204" pitchFamily="34" charset="0"/>
                <a:cs typeface="Times New Roman" panose="02020603050405020304" pitchFamily="18" charset="0"/>
              </a:rPr>
              <a:t/>
            </a:r>
            <a:br>
              <a:rPr lang="en-IN" sz="4000" dirty="0" smtClean="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Rectangle 2"/>
          <p:cNvSpPr/>
          <p:nvPr/>
        </p:nvSpPr>
        <p:spPr>
          <a:xfrm>
            <a:off x="729802" y="1680645"/>
            <a:ext cx="11299065" cy="2961132"/>
          </a:xfrm>
          <a:prstGeom prst="rect">
            <a:avLst/>
          </a:prstGeom>
        </p:spPr>
        <p:txBody>
          <a:bodyPr wrap="square">
            <a:spAutoFit/>
          </a:bodyPr>
          <a:lstStyle/>
          <a:p>
            <a:pPr algn="just">
              <a:lnSpc>
                <a:spcPct val="107000"/>
              </a:lnSpc>
              <a:spcAft>
                <a:spcPts val="800"/>
              </a:spcAft>
            </a:pPr>
            <a:r>
              <a:rPr lang="en-IN" sz="24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Classification algorithms are used when the output variable is categorical, which means there are two classes such as Yes-No, Male-Female, True-false, etc.</a:t>
            </a:r>
            <a:endParaRPr lang="en-IN" sz="2400" dirty="0" smtClean="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IN" sz="24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Spam Filtering</a:t>
            </a:r>
          </a:p>
          <a:p>
            <a:pPr marL="342900" indent="-342900">
              <a:lnSpc>
                <a:spcPct val="107000"/>
              </a:lnSpc>
              <a:spcAft>
                <a:spcPts val="0"/>
              </a:spcAft>
              <a:buFont typeface="Wingdings" panose="05000000000000000000" pitchFamily="2" charset="2"/>
              <a:buChar char="v"/>
            </a:pPr>
            <a:r>
              <a:rPr lang="en-IN" sz="24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Random Forest</a:t>
            </a:r>
            <a:endParaRPr lang="en-IN" sz="24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endParaRPr>
          </a:p>
          <a:p>
            <a:pPr marL="342900" indent="-342900">
              <a:lnSpc>
                <a:spcPct val="107000"/>
              </a:lnSpc>
              <a:spcAft>
                <a:spcPts val="0"/>
              </a:spcAft>
              <a:buFont typeface="Wingdings" panose="05000000000000000000" pitchFamily="2" charset="2"/>
              <a:buChar char="v"/>
            </a:pPr>
            <a:r>
              <a:rPr lang="en-IN" sz="24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Decision Trees</a:t>
            </a:r>
            <a:endParaRPr lang="en-IN" sz="24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endParaRPr>
          </a:p>
          <a:p>
            <a:pPr marL="342900" indent="-342900">
              <a:lnSpc>
                <a:spcPct val="107000"/>
              </a:lnSpc>
              <a:spcAft>
                <a:spcPts val="0"/>
              </a:spcAft>
              <a:buFont typeface="Wingdings" panose="05000000000000000000" pitchFamily="2" charset="2"/>
              <a:buChar char="v"/>
            </a:pPr>
            <a:r>
              <a:rPr lang="en-IN" sz="24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Logistic Regression</a:t>
            </a:r>
            <a:endParaRPr lang="en-IN" sz="2400" dirty="0">
              <a:solidFill>
                <a:srgbClr val="000000"/>
              </a:solidFill>
              <a:latin typeface="Calibri" panose="020F0502020204030204" pitchFamily="34" charset="0"/>
              <a:ea typeface="Times New Roman" panose="02020603050405020304" pitchFamily="18" charset="0"/>
              <a:cs typeface="Times New Roman" panose="02020603050405020304" pitchFamily="18" charset="0"/>
            </a:endParaRPr>
          </a:p>
          <a:p>
            <a:pPr marL="342900" indent="-342900">
              <a:lnSpc>
                <a:spcPct val="107000"/>
              </a:lnSpc>
              <a:spcAft>
                <a:spcPts val="0"/>
              </a:spcAft>
              <a:buFont typeface="Wingdings" panose="05000000000000000000" pitchFamily="2" charset="2"/>
              <a:buChar char="v"/>
            </a:pPr>
            <a:r>
              <a:rPr lang="en-IN" sz="2400" dirty="0" smtClea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Support vector Machines</a:t>
            </a:r>
            <a:endParaRPr lang="en-IN" sz="2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085290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TotalTime>
  <Words>406</Words>
  <Application>Microsoft Office PowerPoint</Application>
  <PresentationFormat>Widescreen</PresentationFormat>
  <Paragraphs>45</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Calibri</vt:lpstr>
      <vt:lpstr>Calibri Light</vt:lpstr>
      <vt:lpstr>Courier New</vt:lpstr>
      <vt:lpstr>Times New Roman</vt:lpstr>
      <vt:lpstr>Wingdings</vt:lpstr>
      <vt:lpstr>Office Theme</vt:lpstr>
      <vt:lpstr>Supervised Machine Learning      Dr. Amit Kumar Bindal</vt:lpstr>
      <vt:lpstr>Supervised Machine Learning</vt:lpstr>
      <vt:lpstr>How Supervised Learning Works?</vt:lpstr>
      <vt:lpstr>PowerPoint Presentation</vt:lpstr>
      <vt:lpstr>Steps Involved in Supervised Learning:</vt:lpstr>
      <vt:lpstr>Types of supervised Machine learning Algorithms:</vt:lpstr>
      <vt:lpstr>1. Regression </vt:lpstr>
      <vt:lpstr>2. Classification </vt:lpstr>
    </vt:vector>
  </TitlesOfParts>
  <Company>Hewlett-Packard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Supervised Machine Learning</dc:title>
  <dc:creator>Amit Bindal</dc:creator>
  <cp:lastModifiedBy>Administrator</cp:lastModifiedBy>
  <cp:revision>6</cp:revision>
  <dcterms:created xsi:type="dcterms:W3CDTF">2022-04-21T10:35:49Z</dcterms:created>
  <dcterms:modified xsi:type="dcterms:W3CDTF">2023-04-20T16:51:01Z</dcterms:modified>
</cp:coreProperties>
</file>